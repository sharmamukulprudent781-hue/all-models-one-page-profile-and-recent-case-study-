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2"/>
    <p:sldId id="267" r:id="rId3"/>
    <p:sldId id="263"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89" d="100"/>
          <a:sy n="89" d="100"/>
        </p:scale>
        <p:origin x="432" y="58"/>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3/3/2026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3/3/2026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US" smtClean="0"/>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3/3/2026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US" smtClean="0"/>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7CC0096-1860-4642-9CD2-0079EA5E7CD1}" type="datetimeFigureOut">
              <a:rPr lang="en-US"/>
              <a:t>3/3/2026</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7CC0096-1860-4642-9CD2-0079EA5E7CD1}" type="datetimeFigureOut">
              <a:rPr lang="en-US"/>
              <a:t>3/3/2026</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7CC0096-1860-4642-9CD2-0079EA5E7CD1}" type="datetimeFigureOut">
              <a:rPr lang="en-US"/>
              <a:t>3/3/2026</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37CC0096-1860-4642-9CD2-0079EA5E7CD1}" type="datetimeFigureOut">
              <a:rPr lang="en-US"/>
              <a:t>3/3/2026</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US" smtClean="0"/>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3/3/2026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3/3/2026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US" smtClean="0"/>
              <a:t>Click to edit Master title style</a:t>
            </a:r>
            <a:endParaRPr dirty="0"/>
          </a:p>
        </p:txBody>
      </p:sp>
      <p:sp>
        <p:nvSpPr>
          <p:cNvPr id="3" name="Text Placeholder 2"/>
          <p:cNvSpPr>
            <a:spLocks noGrp="1"/>
          </p:cNvSpPr>
          <p:nvPr>
            <p:ph type="body" idx="1"/>
          </p:nvPr>
        </p:nvSpPr>
        <p:spPr>
          <a:xfrm>
            <a:off x="1524000" y="1828799"/>
            <a:ext cx="9144000" cy="457200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7CC0096-1860-4642-9CD2-0079EA5E7CD1}" type="datetimeFigureOut">
              <a:rPr lang="en-US" smtClean="0"/>
              <a:pPr/>
              <a:t>3/3/2026</a:t>
            </a:fld>
            <a:endParaRPr lang="en-US" dirty="0"/>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vedantu.com/commerce/investment" TargetMode="External"/><Relationship Id="rId2" Type="http://schemas.openxmlformats.org/officeDocument/2006/relationships/hyperlink" Target="https://www.vedantu.com/commerce/demand"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6225" y="914400"/>
            <a:ext cx="4098175" cy="3177380"/>
          </a:xfrm>
        </p:spPr>
        <p:txBody>
          <a:bodyPr/>
          <a:lstStyle/>
          <a:p>
            <a:r>
              <a:rPr lang="en-US" dirty="0" smtClean="0"/>
              <a:t>THE SUB PRIME CRISIS-2008</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MAJOUR EFFECTS IN US ECONOMY AND GLOBAL ECONOMY </a:t>
            </a:r>
            <a:br>
              <a:rPr lang="en-US" dirty="0" smtClean="0"/>
            </a:br>
            <a:endParaRPr lang="en-US" dirty="0"/>
          </a:p>
        </p:txBody>
      </p:sp>
      <p:sp>
        <p:nvSpPr>
          <p:cNvPr id="3" name="Content Placeholder 2"/>
          <p:cNvSpPr>
            <a:spLocks noGrp="1"/>
          </p:cNvSpPr>
          <p:nvPr>
            <p:ph idx="1"/>
          </p:nvPr>
        </p:nvSpPr>
        <p:spPr/>
        <p:txBody>
          <a:bodyPr/>
          <a:lstStyle/>
          <a:p>
            <a:pPr marL="0" indent="0">
              <a:buNone/>
            </a:pPr>
            <a:r>
              <a:rPr lang="en-US" dirty="0" smtClean="0"/>
              <a:t>*2008-financial Crisis is considered one of the most biggest bubble </a:t>
            </a:r>
          </a:p>
          <a:p>
            <a:pPr marL="0" indent="0">
              <a:buNone/>
            </a:pPr>
            <a:r>
              <a:rPr lang="en-US" dirty="0" smtClean="0"/>
              <a:t>in the history.</a:t>
            </a:r>
          </a:p>
          <a:p>
            <a:pPr marL="0" indent="0">
              <a:buNone/>
            </a:pPr>
            <a:r>
              <a:rPr lang="en-US" dirty="0" smtClean="0"/>
              <a:t>*Declines in equity and real estate value wipes out $28.8 trillion of global wealth in 2008 and first of 2009.</a:t>
            </a:r>
          </a:p>
          <a:p>
            <a:pPr marL="0" indent="0">
              <a:buNone/>
            </a:pPr>
            <a:r>
              <a:rPr lang="en-US" dirty="0" smtClean="0"/>
              <a:t>*</a:t>
            </a:r>
            <a:r>
              <a:rPr lang="en-US" dirty="0" err="1" smtClean="0"/>
              <a:t>Approx</a:t>
            </a:r>
            <a:r>
              <a:rPr lang="en-US" dirty="0" smtClean="0"/>
              <a:t> 7.5 million jobs were lost between 2008-09.</a:t>
            </a:r>
          </a:p>
          <a:p>
            <a:pPr marL="0" indent="0">
              <a:buNone/>
            </a:pPr>
            <a:r>
              <a:rPr lang="en-US" dirty="0" smtClean="0"/>
              <a:t>*Globally countries got affected as export collapse.</a:t>
            </a:r>
          </a:p>
          <a:p>
            <a:pPr marL="0" indent="0">
              <a:buNone/>
            </a:pPr>
            <a:r>
              <a:rPr lang="en-US" dirty="0" smtClean="0"/>
              <a:t>*Decline was around 15-35% in global economy.</a:t>
            </a:r>
          </a:p>
        </p:txBody>
      </p:sp>
    </p:spTree>
    <p:extLst>
      <p:ext uri="{BB962C8B-B14F-4D97-AF65-F5344CB8AC3E}">
        <p14:creationId xmlns:p14="http://schemas.microsoft.com/office/powerpoint/2010/main" val="4218016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BUBLE FORMED AND BURST OUT -</a:t>
            </a:r>
            <a:endParaRPr lang="en-US" dirty="0"/>
          </a:p>
        </p:txBody>
      </p:sp>
      <p:sp>
        <p:nvSpPr>
          <p:cNvPr id="7" name="TextBox 6"/>
          <p:cNvSpPr txBox="1"/>
          <p:nvPr/>
        </p:nvSpPr>
        <p:spPr>
          <a:xfrm>
            <a:off x="762000" y="1752600"/>
            <a:ext cx="11125200" cy="7017306"/>
          </a:xfrm>
          <a:prstGeom prst="rect">
            <a:avLst/>
          </a:prstGeom>
          <a:noFill/>
        </p:spPr>
        <p:txBody>
          <a:bodyPr wrap="square" rtlCol="0">
            <a:spAutoFit/>
          </a:bodyPr>
          <a:lstStyle/>
          <a:p>
            <a:r>
              <a:rPr lang="en-US" b="1" dirty="0"/>
              <a:t>008 Subprime Crisis: How It All Started? </a:t>
            </a:r>
          </a:p>
          <a:p>
            <a:pPr fontAlgn="base"/>
            <a:r>
              <a:rPr lang="en-US" dirty="0"/>
              <a:t>Back in 2008, interest rates in the US were only 1%, people thought that it was not safe to put their money in the bank, and even the stock market started to fall, so they started looking for assets from which they could get higher returns. That's when real estate housing came into the picture. </a:t>
            </a:r>
          </a:p>
          <a:p>
            <a:r>
              <a:rPr lang="en-US" dirty="0"/>
              <a:t>The changes in banking laws began in the 1980s that allowed banks to offer mortgages to subprime customers. Consumers took advantage of cheap credit to purchase durable goods such as appliances and houses. People who couldn't get a traditional mortgage were happy to be approved for these interest rate loans. As a result, between 2001 and 2007, the share of subprime mortgages doubled from 6% to 14%. </a:t>
            </a:r>
          </a:p>
          <a:p>
            <a:pPr fontAlgn="base"/>
            <a:r>
              <a:rPr lang="en-US" dirty="0"/>
              <a:t>The </a:t>
            </a:r>
            <a:r>
              <a:rPr lang="en-US" dirty="0">
                <a:hlinkClick r:id="rId2"/>
              </a:rPr>
              <a:t>demand</a:t>
            </a:r>
            <a:r>
              <a:rPr lang="en-US" dirty="0"/>
              <a:t> for mortgages has driven up the demand for homes that home builders were trying to meet. Because of this ease of credit, many people bought homes as an </a:t>
            </a:r>
            <a:r>
              <a:rPr lang="en-US" dirty="0">
                <a:hlinkClick r:id="rId3"/>
              </a:rPr>
              <a:t>investment</a:t>
            </a:r>
            <a:r>
              <a:rPr lang="en-US" dirty="0"/>
              <a:t> to sell as prices continued to rise. Little did many people with variable rate loans know that the interest rate would go from 3 years to its original in 5 years. </a:t>
            </a:r>
          </a:p>
          <a:p>
            <a:pPr fontAlgn="base"/>
            <a:r>
              <a:rPr lang="en-US" dirty="0"/>
              <a:t>These loans were then bundled with high-quality loans and issued as Mortgage Backed Securities (MBS). Banks were able to pass the risk on to investors, so they were happy to approve loans to people who didn't have the proper documentation or a good credit rating. No one worried about the results, but soon reality hit back. </a:t>
            </a:r>
          </a:p>
          <a:p>
            <a:r>
              <a:rPr lang="en-US" dirty="0"/>
              <a:t>Now Instead of finding a credible solution, they decided to keep raising interest rates. They thought they could recoup their losses by paying regularly or at least charging higher interest rates to those who made a conscious effort to pay. The tax rate increased from 2.25% to 5.25%. Plagued by huge interest rates, defaults only increased. Banks promised safety and security with higher returns, but their actions weren't the same. </a:t>
            </a:r>
          </a:p>
          <a:p>
            <a:pPr fontAlgn="base"/>
            <a:r>
              <a:rPr lang="en-US" dirty="0"/>
              <a:t>When the Fed raised interest rates, the resulting increase in mortgage payments put pressure on borrowers' ability to pay. Property prices soared as supply began to outstrip demand. High-interest rates combined with falling home prices made it very difficult for buyers to pay for their homes. This trapped homeowners who could not afford to buy and sell homes. When the value of derivatives crashed, banks stopped lending to each other. This triggered the financial crisis that led to the Great Recession. And in late 2007, the economy officially plunged into recession.</a:t>
            </a:r>
          </a:p>
        </p:txBody>
      </p:sp>
    </p:spTree>
    <p:extLst>
      <p:ext uri="{BB962C8B-B14F-4D97-AF65-F5344CB8AC3E}">
        <p14:creationId xmlns:p14="http://schemas.microsoft.com/office/powerpoint/2010/main" val="547100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Medical Design 16x9">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Medical design presentation (widescreen)</Template>
  <TotalTime>33</TotalTime>
  <Words>539</Words>
  <Application>Microsoft Office PowerPoint</Application>
  <PresentationFormat>Widescreen</PresentationFormat>
  <Paragraphs>16</Paragraphs>
  <Slides>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Franklin Gothic Medium</vt:lpstr>
      <vt:lpstr>Medical Design 16x9</vt:lpstr>
      <vt:lpstr>THE SUB PRIME CRISIS-2008</vt:lpstr>
      <vt:lpstr>MAJOUR EFFECTS IN US ECONOMY AND GLOBAL ECONOMY  </vt:lpstr>
      <vt:lpstr>HOW BUBLE FORMED AND BURST OUT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SUB PRIME CRISIS-2008</dc:title>
  <dc:creator>user</dc:creator>
  <cp:lastModifiedBy>user</cp:lastModifiedBy>
  <cp:revision>3</cp:revision>
  <dcterms:created xsi:type="dcterms:W3CDTF">2026-03-03T12:34:04Z</dcterms:created>
  <dcterms:modified xsi:type="dcterms:W3CDTF">2026-03-03T13:07:17Z</dcterms:modified>
</cp:coreProperties>
</file>